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  <p:embeddedFont>
      <p:font typeface="Inter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FB47BF-9FC7-4E6F-8DF1-807283C7BD08}">
  <a:tblStyle styleId="{40FB47BF-9FC7-4E6F-8DF1-807283C7BD0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bold.fntdata"/><Relationship Id="rId12" Type="http://schemas.openxmlformats.org/officeDocument/2006/relationships/slide" Target="slides/slide6.xml"/><Relationship Id="rId34" Type="http://schemas.openxmlformats.org/officeDocument/2006/relationships/font" Target="fonts/InterMedium-regular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11" Type="http://schemas.openxmlformats.org/officeDocument/2006/relationships/image" Target="../media/image12.png"/><Relationship Id="rId10" Type="http://schemas.openxmlformats.org/officeDocument/2006/relationships/image" Target="../media/image7.png"/><Relationship Id="rId12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9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63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148482"/>
            <a:ext cx="9001125" cy="785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Esquema Físico y </a:t>
            </a:r>
            <a:r>
              <a:rPr b="1" i="0" lang="en-US" sz="5625" u="none" cap="none" strike="noStrike">
                <a:solidFill>
                  <a:srgbClr val="F43F5E"/>
                </a:solidFill>
                <a:latin typeface="Poppins"/>
                <a:ea typeface="Poppins"/>
                <a:cs typeface="Poppins"/>
                <a:sym typeface="Poppins"/>
              </a:rPr>
              <a:t>DDL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124795"/>
            <a:ext cx="85725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Fundamentos teóricos para la construcción de Bases de Datos.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7362"/>
            <a:ext cx="3492549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57362"/>
            <a:ext cx="3492549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57362"/>
            <a:ext cx="3492549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1002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14400" y="2909887"/>
            <a:ext cx="2947087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Modelo Conceptual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3929062"/>
            <a:ext cx="280674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diseño inicial en papel o pizarra. Consiste en definir las entidades (cajas) y sus relaciones, sin pensar en ninguna base de datos específica.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699" y="21002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4692699" y="2909887"/>
            <a:ext cx="24803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Modelo Lógico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92699" y="3490912"/>
            <a:ext cx="280674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Traducción del modelo conceptual a tablas y columnas estructuradas, estableciendo llaves primarias y foráneas, pero sin tipos de dato exactos.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0999" y="21002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470999" y="2909887"/>
            <a:ext cx="270033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Esquema Físico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70999" y="3490912"/>
            <a:ext cx="280674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implementación real sobre el motor (ej. Oracle). Aquí se deciden los tipos de datos exactos, tamaños de almacenamiento y restricciones reales.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0612" y="2243137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6524" y="2243137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3874" y="224313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Las 3 Etapas del Diseño de BD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13994"/>
            <a:ext cx="5286375" cy="1268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18394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1918394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Definition Language (DDL)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 el subconjunto de comandos SQL que define la estructura de la base de datos, no los datos en sí.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04850" y="2975669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297566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 TABLE: Crea una estructura vacía.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04850" y="342334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3423344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ALTER TABLE: Modifica una tabla existente (añade columnas o reglas).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04850" y="4175819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09625" y="417581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DROP TABLE: Destruye la tabla y todos sus registros.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52475" y="4956869"/>
            <a:ext cx="4962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Regla Crítica del DDL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52475" y="5309294"/>
            <a:ext cx="49625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Todo DDL ejecuta un COMMIT automático. No hay ROLLBACK posible tras modificar una estructura.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927919"/>
            <a:ext cx="526732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" y="501401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¿Qué es el DDL?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571500" y="1524000"/>
            <a:ext cx="5381700" cy="2238300"/>
          </a:xfrm>
          <a:prstGeom prst="roundRect">
            <a:avLst>
              <a:gd fmla="val 5106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1714500"/>
            <a:ext cx="50007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Datos Numéricos</a:t>
            </a:r>
            <a:endParaRPr b="0" sz="2000">
              <a:solidFill>
                <a:srgbClr val="38BDF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2143125"/>
            <a:ext cx="50007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NUMBER(p, s) es el estándar para todo tipo de números.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2571750"/>
            <a:ext cx="50007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Enteros:</a:t>
            </a:r>
            <a:r>
              <a:rPr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NUMBER(10) (Ideal para IDs).</a:t>
            </a:r>
            <a:endParaRPr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Decimales:</a:t>
            </a:r>
            <a:r>
              <a:rPr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NUMBER(10,2) (8 enteros, 2 decimales).</a:t>
            </a:r>
            <a:endParaRPr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238875" y="1524000"/>
            <a:ext cx="5381700" cy="2238300"/>
          </a:xfrm>
          <a:prstGeom prst="roundRect">
            <a:avLst>
              <a:gd fmla="val 5106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429375" y="1714500"/>
            <a:ext cx="50007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Cadenas de Texto</a:t>
            </a:r>
            <a:endParaRPr b="0" sz="2000">
              <a:solidFill>
                <a:srgbClr val="38BDF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429375" y="2143125"/>
            <a:ext cx="5000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Diferencia clave en el uso de memoria:</a:t>
            </a:r>
            <a:endParaRPr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VARCHAR(n):</a:t>
            </a:r>
            <a:r>
              <a:rPr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Variable. Solo lo usado (Rec.).</a:t>
            </a:r>
            <a:endParaRPr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• CHAR(n):</a:t>
            </a:r>
            <a:r>
              <a:rPr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Fija. Rellena con espacios.</a:t>
            </a:r>
            <a:endParaRPr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4048125"/>
            <a:ext cx="5381700" cy="2238300"/>
          </a:xfrm>
          <a:prstGeom prst="roundRect">
            <a:avLst>
              <a:gd fmla="val 5106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4238625"/>
            <a:ext cx="50007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Manejo de Fechas</a:t>
            </a:r>
            <a:endParaRPr b="0" sz="2000">
              <a:solidFill>
                <a:srgbClr val="38BDF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62000" y="4667250"/>
            <a:ext cx="50007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DATE almacena fecha y hora exacta (segundo a segundo).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5334000"/>
            <a:ext cx="5000700" cy="17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Tip: Usar SYSDATE para insertar el instante actual del servidor.</a:t>
            </a:r>
            <a:endParaRPr b="0" i="1" sz="11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238875" y="4048125"/>
            <a:ext cx="5381700" cy="2238300"/>
          </a:xfrm>
          <a:prstGeom prst="roundRect">
            <a:avLst>
              <a:gd fmla="val 5106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29375" y="4238625"/>
            <a:ext cx="50007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Auditoría de Precisión</a:t>
            </a:r>
            <a:endParaRPr b="0" sz="2000">
              <a:solidFill>
                <a:srgbClr val="38BDF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6429375" y="4667250"/>
            <a:ext cx="50007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TIMESTAMP incluye fracciones de segundo.</a:t>
            </a:r>
            <a:endParaRPr b="0" sz="13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429375" y="5334000"/>
            <a:ext cx="5000700" cy="17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Esencial para tablas de log o auditoría para evitar colisiones.</a:t>
            </a:r>
            <a:endParaRPr b="0" i="1" sz="11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476250"/>
            <a:ext cx="11049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Tipos de Datos en Oracle 10g</a:t>
            </a:r>
            <a:endParaRPr b="0" sz="36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119062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476250"/>
            <a:ext cx="11049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Los 5 Constraints Fundamentales</a:t>
            </a:r>
            <a:endParaRPr b="0" sz="36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71500" y="119062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952500" y="1524000"/>
            <a:ext cx="10287000" cy="809700"/>
          </a:xfrm>
          <a:prstGeom prst="roundRect">
            <a:avLst>
              <a:gd fmla="val 1411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2095500" y="1619250"/>
            <a:ext cx="8572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PRIMARY KEY (PK) </a:t>
            </a:r>
            <a:r>
              <a:rPr b="0" lang="en-US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Identificador único e irrepetible. No permite valores nulos.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5">
            <a:alphaModFix/>
          </a:blip>
          <a:srcRect b="1719" l="0" r="0" t="1728"/>
          <a:stretch/>
        </p:blipFill>
        <p:spPr>
          <a:xfrm>
            <a:off x="1381125" y="17430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/>
          <p:nvPr/>
        </p:nvSpPr>
        <p:spPr>
          <a:xfrm>
            <a:off x="952500" y="2524125"/>
            <a:ext cx="10287000" cy="809700"/>
          </a:xfrm>
          <a:prstGeom prst="roundRect">
            <a:avLst>
              <a:gd fmla="val 1411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2095500" y="2619375"/>
            <a:ext cx="8572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FOREIGN KEY (FK) </a:t>
            </a:r>
            <a:r>
              <a:rPr b="0" lang="en-US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Integridad referencial. El valor debe existir en la tabla padre.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8567" r="8576" t="0"/>
          <a:stretch/>
        </p:blipFill>
        <p:spPr>
          <a:xfrm>
            <a:off x="1381125" y="27432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/>
          <p:nvPr/>
        </p:nvSpPr>
        <p:spPr>
          <a:xfrm>
            <a:off x="952500" y="3524250"/>
            <a:ext cx="10287000" cy="809700"/>
          </a:xfrm>
          <a:prstGeom prst="roundRect">
            <a:avLst>
              <a:gd fmla="val 1411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2095500" y="3619500"/>
            <a:ext cx="8572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UNIQUE (UQ) </a:t>
            </a:r>
            <a:r>
              <a:rPr b="0" lang="en-US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Asegura que los valores no se repitan en la columna.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 rotWithShape="1">
          <a:blip r:embed="rId7">
            <a:alphaModFix/>
          </a:blip>
          <a:srcRect b="1719" l="0" r="0" t="1728"/>
          <a:stretch/>
        </p:blipFill>
        <p:spPr>
          <a:xfrm>
            <a:off x="1381125" y="37433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/>
          <p:nvPr/>
        </p:nvSpPr>
        <p:spPr>
          <a:xfrm>
            <a:off x="952500" y="4524375"/>
            <a:ext cx="10287000" cy="809700"/>
          </a:xfrm>
          <a:prstGeom prst="roundRect">
            <a:avLst>
              <a:gd fmla="val 1411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2095500" y="4619625"/>
            <a:ext cx="8572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CHECK (CK) </a:t>
            </a:r>
            <a:r>
              <a:rPr b="0" lang="en-US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Valida condiciones específicas de negocio (ej. ESTADO IN).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9" name="Google Shape;169;p17"/>
          <p:cNvPicPr preferRelativeResize="0"/>
          <p:nvPr/>
        </p:nvPicPr>
        <p:blipFill rotWithShape="1">
          <a:blip r:embed="rId8">
            <a:alphaModFix/>
          </a:blip>
          <a:srcRect b="13794" l="0" r="0" t="13794"/>
          <a:stretch/>
        </p:blipFill>
        <p:spPr>
          <a:xfrm>
            <a:off x="1381125" y="47434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/>
          <p:nvPr/>
        </p:nvSpPr>
        <p:spPr>
          <a:xfrm>
            <a:off x="952500" y="5524500"/>
            <a:ext cx="10287000" cy="809700"/>
          </a:xfrm>
          <a:prstGeom prst="roundRect">
            <a:avLst>
              <a:gd fmla="val 1411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2095500" y="5619750"/>
            <a:ext cx="85725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NOT NULL (NN) </a:t>
            </a:r>
            <a:r>
              <a:rPr b="0" lang="en-US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— Obliga a que la columna siempre contenga un dato.</a:t>
            </a:r>
            <a:endParaRPr b="1" sz="1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2" name="Google Shape;172;p17"/>
          <p:cNvPicPr preferRelativeResize="0"/>
          <p:nvPr/>
        </p:nvPicPr>
        <p:blipFill rotWithShape="1">
          <a:blip r:embed="rId9">
            <a:alphaModFix/>
          </a:blip>
          <a:srcRect b="13794" l="0" r="0" t="13794"/>
          <a:stretch/>
        </p:blipFill>
        <p:spPr>
          <a:xfrm>
            <a:off x="1381125" y="574357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18"/>
          <p:cNvGraphicFramePr/>
          <p:nvPr/>
        </p:nvGraphicFramePr>
        <p:xfrm>
          <a:off x="571500" y="24907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{40FB47BF-9FC7-4E6F-8DF1-807283C7BD08}</a:tableStyleId>
              </a:tblPr>
              <a:tblGrid>
                <a:gridCol w="2559250"/>
                <a:gridCol w="3855850"/>
                <a:gridCol w="4633900"/>
              </a:tblGrid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Característica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PRIMARY KEY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UNIQUE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3F5E"/>
                    </a:solidFill>
                  </a:tcPr>
                </a:tc>
              </a:tr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¿Permite valores NULL?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Absolutamente NO.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SÍ (y puede haber varios registros NULL).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Límite por tabla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Solamente UNA por tabla.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Todas las que el diseño necesite.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 índice automático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SÍ (para búsquedas rápidas).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SÍ.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Uso típico en diseño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 ID interno del registro (ej. ID_USU).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Identificadores de negocio (ej. Cédula, Correo).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18"/>
          <p:cNvSpPr/>
          <p:nvPr/>
        </p:nvSpPr>
        <p:spPr>
          <a:xfrm>
            <a:off x="571500" y="3181350"/>
            <a:ext cx="25592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130748" y="3181350"/>
            <a:ext cx="38558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6986587" y="3181350"/>
            <a:ext cx="46339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571500" y="3762375"/>
            <a:ext cx="25592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3130748" y="3762375"/>
            <a:ext cx="38558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6986587" y="3762375"/>
            <a:ext cx="46339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571500" y="4343400"/>
            <a:ext cx="25592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3130748" y="4343400"/>
            <a:ext cx="38558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986587" y="4343400"/>
            <a:ext cx="46339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571500" y="4924425"/>
            <a:ext cx="255924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3130748" y="4924425"/>
            <a:ext cx="385583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986587" y="4924425"/>
            <a:ext cx="46339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Batalla de Restricciones: PK vs UNIQUE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71500" y="476250"/>
            <a:ext cx="11049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Integridad Referencial</a:t>
            </a:r>
            <a:endParaRPr b="0" sz="360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71500" y="1190625"/>
            <a:ext cx="110490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19"/>
          <p:cNvPicPr preferRelativeResize="0"/>
          <p:nvPr/>
        </p:nvPicPr>
        <p:blipFill rotWithShape="1">
          <a:blip r:embed="rId4">
            <a:alphaModFix/>
          </a:blip>
          <a:srcRect b="7286" l="0" r="0" t="7295"/>
          <a:stretch/>
        </p:blipFill>
        <p:spPr>
          <a:xfrm>
            <a:off x="7048500" y="1524000"/>
            <a:ext cx="4572000" cy="45720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71500" y="1428750"/>
            <a:ext cx="6096000" cy="83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Comportamiento de la FK</a:t>
            </a:r>
            <a:endParaRPr b="0" sz="2000">
              <a:solidFill>
                <a:srgbClr val="38BDF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 FOREIGN KEY une una tabla "hija" con una tabla "padre". Pero, ¿qué ocurre si intentamos eliminar el registro padre?</a:t>
            </a:r>
            <a:endParaRPr b="0" sz="14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2" name="Google Shape;202;p19"/>
          <p:cNvGrpSpPr/>
          <p:nvPr/>
        </p:nvGrpSpPr>
        <p:grpSpPr>
          <a:xfrm>
            <a:off x="571500" y="2571750"/>
            <a:ext cx="6096000" cy="1714500"/>
            <a:chOff x="571500" y="2571750"/>
            <a:chExt cx="6096000" cy="1714500"/>
          </a:xfrm>
        </p:grpSpPr>
        <p:sp>
          <p:nvSpPr>
            <p:cNvPr id="203" name="Google Shape;203;p19"/>
            <p:cNvSpPr/>
            <p:nvPr/>
          </p:nvSpPr>
          <p:spPr>
            <a:xfrm>
              <a:off x="571500" y="2571750"/>
              <a:ext cx="6096000" cy="1714500"/>
            </a:xfrm>
            <a:prstGeom prst="roundRect">
              <a:avLst>
                <a:gd fmla="val 8888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 txBox="1"/>
            <p:nvPr/>
          </p:nvSpPr>
          <p:spPr>
            <a:xfrm>
              <a:off x="809625" y="2571750"/>
              <a:ext cx="5619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1. Restricción por Defecto</a:t>
              </a:r>
              <a:endParaRPr b="0" sz="18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Si no se especifica nada, Oracle </a:t>
              </a:r>
              <a:r>
                <a:rPr b="1" lang="en-US" sz="13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bloqueará</a:t>
              </a:r>
              <a:r>
                <a:rPr b="0" lang="en-US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el borrado (Error ORA-02292). No puedes borrar un Artículo si ya existe en un Préstamo.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5" name="Google Shape;205;p19"/>
          <p:cNvGrpSpPr/>
          <p:nvPr/>
        </p:nvGrpSpPr>
        <p:grpSpPr>
          <a:xfrm>
            <a:off x="566738" y="4471988"/>
            <a:ext cx="6105600" cy="1719263"/>
            <a:chOff x="566738" y="4471988"/>
            <a:chExt cx="6105600" cy="1719263"/>
          </a:xfrm>
        </p:grpSpPr>
        <p:pic>
          <p:nvPicPr>
            <p:cNvPr id="206" name="Google Shape;206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738" y="4471988"/>
              <a:ext cx="6105600" cy="67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19"/>
            <p:cNvSpPr txBox="1"/>
            <p:nvPr/>
          </p:nvSpPr>
          <p:spPr>
            <a:xfrm>
              <a:off x="809625" y="4476750"/>
              <a:ext cx="5619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43F5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2. ON DELETE CASCADE</a:t>
              </a:r>
              <a:endParaRPr b="0" sz="1800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Si se declara esta cláusula, al borrar el padre, Oracle borrará </a:t>
              </a:r>
              <a:r>
                <a:rPr b="1" lang="en-US" sz="1300">
                  <a:solidFill>
                    <a:srgbClr val="F43F5E"/>
                  </a:solidFill>
                  <a:latin typeface="Inter"/>
                  <a:ea typeface="Inter"/>
                  <a:cs typeface="Inter"/>
                  <a:sym typeface="Inter"/>
                </a:rPr>
                <a:t>automáticamente</a:t>
              </a:r>
              <a:r>
                <a:rPr b="0" lang="en-US" sz="13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todos sus hijos. (Ideal para Préstamos y sus Detalles).</a:t>
              </a:r>
              <a:endParaRPr b="0" sz="13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08" name="Google Shape;20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2750" y="1190625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571500" y="3052762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71500" y="4672012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Pasos de Seguridad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334125" y="2095500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Evolucionando tablas con datos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334125" y="26765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 intentas hacer ADD columna NOT NULL en una tabla que ya tiene miles de registros, Oracle fallará porque las filas existentes no tendrán qué valor poner.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334125" y="378142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solución profesional: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391275" y="422910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524625" y="422910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Agrega la columna permitiendo NULL.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353175" y="4676775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524625" y="467677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Usa un UPDATE para llenar todas las filas existentes con un valor genérico.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353175" y="542925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524625" y="542925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Modifica la columna para aplicar el NOT NULL.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ALTER TABLE: El problema del NOT NULL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175" y="1423987"/>
            <a:ext cx="9391650" cy="515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2047875" y="1995487"/>
            <a:ext cx="817245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comando DROP TABLE borra la estructura y los datos permanentemente... o </a:t>
            </a:r>
            <a:r>
              <a:rPr b="0" i="0" lang="en-US" sz="3000" u="none" cap="none" strike="noStrike">
                <a:solidFill>
                  <a:srgbClr val="F43F5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 menos eso creíamos</a:t>
            </a:r>
            <a:r>
              <a:rPr b="0" i="0" lang="en-US" sz="30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4719637" y="4414837"/>
            <a:ext cx="28289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La magia del RECYCLEBIN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2047875" y="4948237"/>
            <a:ext cx="8172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partir de Oracle 10g, las tablas eliminadas van a una "Papelera de Reciclaje" interna. Si cometemos un error crítico en producción, podemos usar el comando FLASHBACK TABLE [nombre] TO BEFORE DROP; para revivir la tabla con todos sus datos intactos.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571500" y="280987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Destrucción y Recuperación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71500" y="1023937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6825" y="4480470"/>
            <a:ext cx="20383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295275" y="1948755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¿Preguntas?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71500" y="343465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Gracias por su atención.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/>
          <p:nvPr/>
        </p:nvSpPr>
        <p:spPr>
          <a:xfrm>
            <a:off x="604837" y="3220491"/>
            <a:ext cx="109823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604837" y="3995737"/>
            <a:ext cx="109823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604837" y="3995737"/>
            <a:ext cx="109823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837" y="33699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1700212" y="3363366"/>
            <a:ext cx="98869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https://png.pngtree.com/thumb_back/fw800/background/20251128/pngtree-abstract-digital-network-grid-with-glowing-nodes-and-lines-on-a-image_20645653.webp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1700212" y="3609082"/>
            <a:ext cx="9886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37" y="41546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700212" y="4148137"/>
            <a:ext cx="98869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https://png.pngtree.com/png-vector/20260404/ourlarge/pngtree-interconnected-nodes-and-chain-links-png-image_19059617.webp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700212" y="4393852"/>
            <a:ext cx="9886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571500" y="571500"/>
            <a:ext cx="116014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